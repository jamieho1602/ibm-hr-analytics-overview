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IBM HR Analytics | Employee Attrition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86574"/>
                </a:solidFill>
              </a:defRPr>
            </a:pPr>
            <a:r>
              <a:t>Capstone presentation  •  Based on latest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300" b="1">
                <a:solidFill>
                  <a:srgbClr val="103762"/>
                </a:solidFill>
              </a:defRPr>
            </a:pPr>
            <a:r>
              <a:t>Understanding attrition, rewards and retention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586574"/>
                </a:solidFill>
              </a:defRPr>
            </a:pPr>
            <a:r>
              <a:t>Descriptive analytics  •  Employee experience  •  Predictive modelling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2880360" cy="1600200"/>
          </a:xfrm>
          <a:prstGeom prst="roundRect">
            <a:avLst/>
          </a:prstGeom>
          <a:solidFill>
            <a:srgbClr val="E9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1871B9"/>
                </a:solidFill>
              </a:defRPr>
            </a:pPr>
            <a:r>
              <a:t>1,465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86574"/>
                </a:solidFill>
              </a:defRPr>
            </a:pPr>
            <a: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2880360" cy="1600200"/>
          </a:xfrm>
          <a:prstGeom prst="roundRect">
            <a:avLst/>
          </a:prstGeom>
          <a:solidFill>
            <a:srgbClr val="E9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1871B9"/>
                </a:solidFill>
              </a:defRPr>
            </a:pPr>
            <a:r>
              <a:t>237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86574"/>
                </a:solidFill>
              </a:defRPr>
            </a:pPr>
            <a:r>
              <a:t>Employees left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08760"/>
            <a:ext cx="2880360" cy="1600200"/>
          </a:xfrm>
          <a:prstGeom prst="roundRect">
            <a:avLst/>
          </a:prstGeom>
          <a:solidFill>
            <a:srgbClr val="E9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1871B9"/>
                </a:solidFill>
              </a:defRPr>
            </a:pPr>
            <a:r>
              <a:t>16.18%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2514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86574"/>
                </a:solidFill>
              </a:defRPr>
            </a:pPr>
            <a:r>
              <a:t>Attrition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03762"/>
                </a:solidFill>
              </a:defRPr>
            </a:pPr>
            <a:r>
              <a:t>Main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03762"/>
                </a:solidFill>
              </a:defRPr>
            </a:pPr>
            <a:r>
              <a:t>Overtime  •  Lower satisfaction  •  Early tenure  •  Career progression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Where Is Attrition Concentrated?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3</a:t>
            </a:r>
          </a:p>
        </p:txBody>
      </p:sp>
      <p:pic>
        <p:nvPicPr>
          <p:cNvPr id="5" name="Picture 4" descr="_chart_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Sales has the highest department attrition rate: 20.67%.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Compensation: Active vs Departed Employees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Average monthly income: active 6,846 vs departed 4,787 (dataset units).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109728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Rewards: Stock Options and Attrition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500">
                <a:solidFill>
                  <a:srgbClr val="0C3561"/>
                </a:solidFill>
              </a:rPr>
              <a:t>Level 0: 629 employees (475 stayed; 154 left), with 24.48% attrition.</a:t>
            </a:r>
          </a:p>
        </p:txBody>
      </p:sp>
      <p:pic>
        <p:nvPicPr>
          <p:cNvPr id="7" name="Picture 6" descr="slide5_revised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1143000"/>
            <a:ext cx="108813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Overtime Is a Major Retention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6</a:t>
            </a:r>
          </a:p>
        </p:txBody>
      </p:sp>
      <p:pic>
        <p:nvPicPr>
          <p:cNvPr id="5" name="Picture 4" descr="_chart_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9875520" cy="4434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Attrition: overtime 30.53% vs no overtime 10.49%.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Employee Experience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7</a:t>
            </a:r>
          </a:p>
        </p:txBody>
      </p:sp>
      <p:pic>
        <p:nvPicPr>
          <p:cNvPr id="5" name="Picture 4" descr="_chart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349240" cy="4297680"/>
          </a:xfrm>
          <a:prstGeom prst="rect">
            <a:avLst/>
          </a:prstGeom>
        </p:spPr>
      </p:pic>
      <p:pic>
        <p:nvPicPr>
          <p:cNvPr id="6" name="Picture 5" descr="_chart_inv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49240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Low job satisfaction and low job involvement coincide with higher attrition.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Early-Tenure Attrition and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0–2 years: 29.91% attrition; rating 4: 16.44% attrition.</a:t>
            </a:r>
          </a:p>
        </p:txBody>
      </p:sp>
      <p:pic>
        <p:nvPicPr>
          <p:cNvPr id="9" name="Picture 8" descr="slide8_fixed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188720"/>
            <a:ext cx="5349240" cy="2858373"/>
          </a:xfrm>
          <a:prstGeom prst="rect">
            <a:avLst/>
          </a:prstGeom>
        </p:spPr>
      </p:pic>
      <p:pic>
        <p:nvPicPr>
          <p:cNvPr id="10" name="Picture 9" descr="slide8_fixed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1188720"/>
            <a:ext cx="5486400" cy="2892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High Performers: Job Satisfaction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9</a:t>
            </a:r>
          </a:p>
        </p:txBody>
      </p:sp>
      <p:pic>
        <p:nvPicPr>
          <p:cNvPr id="5" name="Picture 4" descr="_chart_hipo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Among rating-4 employees, attrition falls from 33.33% to 8.86% as satisfaction rises.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High Performers: Satisfaction and Retention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Among high performers, attrition falls from 33.33% to 8.86% as satisfaction rises.</a:t>
            </a:r>
          </a:p>
        </p:txBody>
      </p:sp>
      <p:pic>
        <p:nvPicPr>
          <p:cNvPr id="8" name="Picture 7" descr="satisfaction_update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0492" y="1165860"/>
            <a:ext cx="675071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Predictive Analytics: Logistic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_chart_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5897880"/>
            <a:ext cx="10972800" cy="512064"/>
          </a:xfrm>
          <a:prstGeom prst="round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618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3762"/>
                </a:solidFill>
              </a:defRPr>
            </a:pPr>
            <a:r>
              <a:t>Accuracy 75.09%; recall 78.72%; precision 37.00%.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C3561"/>
                </a:solidFill>
                <a:latin typeface="Aptos Display"/>
              </a:rPr>
              <a:t>Recommended HR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41832"/>
            <a:ext cx="11155680" cy="50292"/>
          </a:xfrm>
          <a:prstGeom prst="rect">
            <a:avLst/>
          </a:prstGeom>
          <a:solidFill>
            <a:srgbClr val="18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4922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86574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46B37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2801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762"/>
                </a:solidFill>
              </a:defRPr>
            </a:pPr>
            <a:r>
              <a:t>Review overtime workload and staffing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3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46B37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77439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3762"/>
                </a:solidFill>
              </a:defRPr>
            </a:pPr>
            <a:r>
              <a:t>Prioritise retention support in the first two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46B37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7472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100">
                <a:solidFill>
                  <a:srgbClr val="14375E"/>
                </a:solidFill>
              </a:rPr>
              <a:t>Retain high performers through career development and job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71B9"/>
                </a:solidFill>
              </a:defRPr>
            </a:pPr>
            <a:r>
              <a:t>Outcome: targeted, measurable retention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457200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Monitor attrition trends and evaluate retention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